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2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594360"/>
            <a:ext cx="1874519" cy="384048"/>
          </a:xfrm>
          <a:prstGeom prst="roundRect">
            <a:avLst/>
          </a:prstGeom>
          <a:solidFill>
            <a:srgbClr val="764CD7"/>
          </a:solidFill>
          <a:ln>
            <a:solidFill>
              <a:srgbClr val="76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18745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AUTOGEN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87817"/>
            <a:ext cx="6675120" cy="9848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 dirty="0">
                <a:solidFill>
                  <a:srgbClr val="FFFFFF"/>
                </a:solidFill>
                <a:latin typeface="Aptos"/>
              </a:rPr>
              <a:t>The Busy Father &amp;</a:t>
            </a:r>
            <a:br>
              <a:rPr dirty="0"/>
            </a:br>
            <a:r>
              <a:rPr b="1" dirty="0">
                <a:highlight>
                  <a:srgbClr val="FFFF00"/>
                </a:highlight>
              </a:rPr>
              <a:t>His 3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108960"/>
            <a:ext cx="6949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dirty="0">
                <a:solidFill>
                  <a:srgbClr val="CDD8F0"/>
                </a:solidFill>
                <a:latin typeface="Aptos"/>
              </a:rPr>
              <a:t>A simple family story to understand multi-agent systems, delegation and asynchronous work.</a:t>
            </a:r>
          </a:p>
        </p:txBody>
      </p:sp>
      <p:sp>
        <p:nvSpPr>
          <p:cNvPr id="6" name="Oval 5"/>
          <p:cNvSpPr/>
          <p:nvPr/>
        </p:nvSpPr>
        <p:spPr>
          <a:xfrm>
            <a:off x="8321040" y="1645920"/>
            <a:ext cx="1005840" cy="1005840"/>
          </a:xfrm>
          <a:prstGeom prst="ellipse">
            <a:avLst/>
          </a:prstGeom>
          <a:solidFill>
            <a:srgbClr val="2F69DC"/>
          </a:solidFill>
          <a:ln>
            <a:solidFill>
              <a:srgbClr val="2F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0" y="1645920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DAD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3337560"/>
            <a:ext cx="868680" cy="868680"/>
          </a:xfrm>
          <a:prstGeom prst="ellipse">
            <a:avLst/>
          </a:prstGeom>
          <a:solidFill>
            <a:srgbClr val="764CD7"/>
          </a:solidFill>
          <a:ln>
            <a:solidFill>
              <a:srgbClr val="76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33375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A1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8229600" y="2651760"/>
            <a:ext cx="594360" cy="685800"/>
          </a:xfrm>
          <a:prstGeom prst="line">
            <a:avLst/>
          </a:prstGeom>
          <a:ln w="31750">
            <a:solidFill>
              <a:srgbClr val="764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189720" y="3337560"/>
            <a:ext cx="868680" cy="868680"/>
          </a:xfrm>
          <a:prstGeom prst="ellipse">
            <a:avLst/>
          </a:prstGeom>
          <a:solidFill>
            <a:srgbClr val="2BA562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89720" y="33375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23960" y="2651760"/>
            <a:ext cx="777240" cy="685800"/>
          </a:xfrm>
          <a:prstGeom prst="line">
            <a:avLst/>
          </a:prstGeom>
          <a:ln w="31750">
            <a:solidFill>
              <a:srgbClr val="2BA5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561320" y="3337560"/>
            <a:ext cx="868680" cy="868680"/>
          </a:xfrm>
          <a:prstGeom prst="ellipse">
            <a:avLst/>
          </a:prstGeom>
          <a:solidFill>
            <a:srgbClr val="F08E37"/>
          </a:solidFill>
          <a:ln>
            <a:solidFill>
              <a:srgbClr val="F0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61320" y="33375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23960" y="2651760"/>
            <a:ext cx="2148840" cy="685800"/>
          </a:xfrm>
          <a:prstGeom prst="line">
            <a:avLst/>
          </a:prstGeom>
          <a:ln w="31750">
            <a:solidFill>
              <a:srgbClr val="F08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0" y="4663440"/>
            <a:ext cx="37490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One goal. Three tasks. Three agents.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6F82"/>
                </a:solidFill>
                <a:latin typeface="Aptos"/>
              </a:rPr>
              <a:t>AutoGen Family Use Case • Workshop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6F8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72241"/>
                </a:solidFill>
                <a:latin typeface="Aptos"/>
              </a:rPr>
              <a:t>The family 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6F82"/>
                </a:solidFill>
                <a:latin typeface="Aptos"/>
              </a:rPr>
              <a:t>Father has three important responsibilities at the same morning time.</a:t>
            </a:r>
          </a:p>
        </p:txBody>
      </p:sp>
      <p:sp>
        <p:nvSpPr>
          <p:cNvPr id="4" name="Oval 3"/>
          <p:cNvSpPr/>
          <p:nvPr/>
        </p:nvSpPr>
        <p:spPr>
          <a:xfrm>
            <a:off x="5440680" y="1417320"/>
            <a:ext cx="1143000" cy="1143000"/>
          </a:xfrm>
          <a:prstGeom prst="ellipse">
            <a:avLst/>
          </a:prstGeom>
          <a:solidFill>
            <a:srgbClr val="2F69DC"/>
          </a:solidFill>
          <a:ln>
            <a:solidFill>
              <a:srgbClr val="2F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40680" y="1417320"/>
            <a:ext cx="11430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8036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3200400"/>
            <a:ext cx="640080" cy="640080"/>
          </a:xfrm>
          <a:prstGeom prst="ellipse">
            <a:avLst/>
          </a:prstGeom>
          <a:solidFill>
            <a:srgbClr val="764CD7"/>
          </a:solidFill>
          <a:ln>
            <a:solidFill>
              <a:srgbClr val="76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10896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72241"/>
                </a:solidFill>
                <a:latin typeface="Aptos"/>
              </a:rPr>
              <a:t>Kid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538728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56F82"/>
                </a:solidFill>
                <a:latin typeface="Aptos"/>
              </a:rPr>
              <a:t>Take child to School A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423160" y="2560320"/>
            <a:ext cx="3584448" cy="320040"/>
          </a:xfrm>
          <a:prstGeom prst="line">
            <a:avLst/>
          </a:prstGeom>
          <a:ln w="31750">
            <a:solidFill>
              <a:srgbClr val="764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34840" y="288036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63440" y="3200400"/>
            <a:ext cx="640080" cy="640080"/>
          </a:xfrm>
          <a:prstGeom prst="ellipse">
            <a:avLst/>
          </a:prstGeom>
          <a:solidFill>
            <a:srgbClr val="2BA562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32004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79" y="310896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72241"/>
                </a:solidFill>
                <a:latin typeface="Aptos"/>
              </a:rPr>
              <a:t>Kid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79" y="3538728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56F82"/>
                </a:solidFill>
                <a:latin typeface="Aptos"/>
              </a:rPr>
              <a:t>Take child to School 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07608" y="2560320"/>
            <a:ext cx="73151" cy="320040"/>
          </a:xfrm>
          <a:prstGeom prst="line">
            <a:avLst/>
          </a:prstGeom>
          <a:ln w="31750">
            <a:solidFill>
              <a:srgbClr val="2BA5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92440" y="288036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21040" y="3200400"/>
            <a:ext cx="640080" cy="640080"/>
          </a:xfrm>
          <a:prstGeom prst="ellipse">
            <a:avLst/>
          </a:prstGeom>
          <a:solidFill>
            <a:srgbClr val="F08E37"/>
          </a:solidFill>
          <a:ln>
            <a:solidFill>
              <a:srgbClr val="F0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32004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310896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72241"/>
                </a:solidFill>
                <a:latin typeface="Aptos"/>
              </a:rPr>
              <a:t>Office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3538728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56F82"/>
                </a:solidFill>
                <a:latin typeface="Aptos"/>
              </a:rPr>
              <a:t>Father must reach office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7608" y="2560320"/>
            <a:ext cx="3730752" cy="320040"/>
          </a:xfrm>
          <a:prstGeom prst="line">
            <a:avLst/>
          </a:prstGeom>
          <a:ln w="31750">
            <a:solidFill>
              <a:srgbClr val="F08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965960" y="5166360"/>
            <a:ext cx="8275320" cy="658368"/>
          </a:xfrm>
          <a:prstGeom prst="roundRect">
            <a:avLst/>
          </a:prstGeom>
          <a:solidFill>
            <a:srgbClr val="FFF6EB"/>
          </a:solidFill>
          <a:ln>
            <a:solidFill>
              <a:srgbClr val="F0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94560" y="5285232"/>
            <a:ext cx="7818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72241"/>
                </a:solidFill>
                <a:latin typeface="Aptos"/>
              </a:rPr>
              <a:t>Problem: one father cannot physically do three time-sensitive tasks at the same time.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6F82"/>
                </a:solidFill>
                <a:latin typeface="Aptos"/>
              </a:rPr>
              <a:t>AutoGen Family Use Case • Workshop Example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6F8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72241"/>
                </a:solidFill>
                <a:latin typeface="Aptos"/>
              </a:rPr>
              <a:t>Without agents: sequential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6F82"/>
                </a:solidFill>
                <a:latin typeface="Aptos"/>
              </a:rPr>
              <a:t>If father tries to do everything himself, each task waits for the previous one.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828800"/>
            <a:ext cx="777240" cy="777240"/>
          </a:xfrm>
          <a:prstGeom prst="ellipse">
            <a:avLst/>
          </a:prstGeom>
          <a:solidFill>
            <a:srgbClr val="764CD7"/>
          </a:solidFill>
          <a:ln>
            <a:solidFill>
              <a:srgbClr val="76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889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72241"/>
                </a:solidFill>
                <a:latin typeface="Aptos"/>
              </a:rPr>
              <a:t>School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764CD7"/>
                </a:solidFill>
                <a:latin typeface="Aptos"/>
              </a:rPr>
              <a:t>7:30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2212848"/>
            <a:ext cx="2468880" cy="0"/>
          </a:xfrm>
          <a:prstGeom prst="line">
            <a:avLst/>
          </a:prstGeom>
          <a:ln w="31750">
            <a:solidFill>
              <a:srgbClr val="65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572000" y="1828800"/>
            <a:ext cx="777240" cy="777240"/>
          </a:xfrm>
          <a:prstGeom prst="ellipse">
            <a:avLst/>
          </a:prstGeom>
          <a:solidFill>
            <a:srgbClr val="2BA562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7889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72241"/>
                </a:solidFill>
                <a:latin typeface="Aptos"/>
              </a:rPr>
              <a:t>School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3756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BA562"/>
                </a:solidFill>
                <a:latin typeface="Aptos"/>
              </a:rPr>
              <a:t>8:10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0" y="2212848"/>
            <a:ext cx="2468879" cy="0"/>
          </a:xfrm>
          <a:prstGeom prst="line">
            <a:avLst/>
          </a:prstGeom>
          <a:ln w="31750">
            <a:solidFill>
              <a:srgbClr val="65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229600" y="1828800"/>
            <a:ext cx="777240" cy="777240"/>
          </a:xfrm>
          <a:prstGeom prst="ellipse">
            <a:avLst/>
          </a:prstGeom>
          <a:solidFill>
            <a:srgbClr val="F08E37"/>
          </a:solidFill>
          <a:ln>
            <a:solidFill>
              <a:srgbClr val="F0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82880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78892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292608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72241"/>
                </a:solidFill>
                <a:latin typeface="Aptos"/>
              </a:rPr>
              <a:t>Office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33756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08E37"/>
                </a:solidFill>
                <a:latin typeface="Aptos"/>
              </a:rPr>
              <a:t>9:00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892040"/>
            <a:ext cx="6035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DC4C4C"/>
                </a:solidFill>
                <a:latin typeface="Aptos"/>
              </a:rPr>
              <a:t>Father may be late to School B or office.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440680"/>
            <a:ext cx="7863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656F82"/>
                </a:solidFill>
                <a:latin typeface="Aptos"/>
              </a:rPr>
              <a:t>This is similar to a system where one worker completes every task one-by-one.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6F82"/>
                </a:solidFill>
                <a:latin typeface="Aptos"/>
              </a:rPr>
              <a:t>AutoGen Family Use Case • Workshop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6F8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72241"/>
                </a:solidFill>
                <a:latin typeface="Aptos"/>
              </a:rPr>
              <a:t>Father delegates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6F82"/>
                </a:solidFill>
                <a:latin typeface="Aptos"/>
              </a:rPr>
              <a:t>He hires three trusted agents and gives each one a clear responsibility.</a:t>
            </a:r>
          </a:p>
        </p:txBody>
      </p:sp>
      <p:sp>
        <p:nvSpPr>
          <p:cNvPr id="4" name="Oval 3"/>
          <p:cNvSpPr/>
          <p:nvPr/>
        </p:nvSpPr>
        <p:spPr>
          <a:xfrm>
            <a:off x="5440680" y="1234440"/>
            <a:ext cx="1097280" cy="1097280"/>
          </a:xfrm>
          <a:prstGeom prst="ellipse">
            <a:avLst/>
          </a:prstGeom>
          <a:solidFill>
            <a:srgbClr val="2F69DC"/>
          </a:solidFill>
          <a:ln>
            <a:solidFill>
              <a:srgbClr val="2F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40680" y="1234440"/>
            <a:ext cx="10972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80360"/>
            <a:ext cx="3246120" cy="1600200"/>
          </a:xfrm>
          <a:prstGeom prst="roundRect">
            <a:avLst/>
          </a:prstGeom>
          <a:solidFill>
            <a:srgbClr val="F5F0FF"/>
          </a:solidFill>
          <a:ln>
            <a:solidFill>
              <a:srgbClr val="76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3154679"/>
            <a:ext cx="640080" cy="640080"/>
          </a:xfrm>
          <a:prstGeom prst="ellipse">
            <a:avLst/>
          </a:prstGeom>
          <a:solidFill>
            <a:srgbClr val="764CD7"/>
          </a:solidFill>
          <a:ln>
            <a:solidFill>
              <a:srgbClr val="76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154679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081528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72241"/>
                </a:solidFill>
                <a:latin typeface="Aptos"/>
              </a:rPr>
              <a:t>Agent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502152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D3444"/>
                </a:solidFill>
                <a:latin typeface="Aptos"/>
              </a:rPr>
              <a:t>Take Kid 1 → School A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423160" y="2331720"/>
            <a:ext cx="3566160" cy="548640"/>
          </a:xfrm>
          <a:prstGeom prst="line">
            <a:avLst/>
          </a:prstGeom>
          <a:ln w="31750">
            <a:solidFill>
              <a:srgbClr val="764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34840" y="2880360"/>
            <a:ext cx="3246120" cy="1600200"/>
          </a:xfrm>
          <a:prstGeom prst="roundRect">
            <a:avLst/>
          </a:prstGeom>
          <a:solidFill>
            <a:srgbClr val="ECF9F2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3154679"/>
            <a:ext cx="640080" cy="640080"/>
          </a:xfrm>
          <a:prstGeom prst="ellipse">
            <a:avLst/>
          </a:prstGeom>
          <a:solidFill>
            <a:srgbClr val="2BA562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3154679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3081528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72241"/>
                </a:solidFill>
                <a:latin typeface="Aptos"/>
              </a:rPr>
              <a:t>Agent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3502152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D3444"/>
                </a:solidFill>
                <a:latin typeface="Aptos"/>
              </a:rPr>
              <a:t>Take Kid 2 → School 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9320" y="2331720"/>
            <a:ext cx="91439" cy="548640"/>
          </a:xfrm>
          <a:prstGeom prst="line">
            <a:avLst/>
          </a:prstGeom>
          <a:ln w="31750">
            <a:solidFill>
              <a:srgbClr val="2BA5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92440" y="2880360"/>
            <a:ext cx="3246120" cy="1600200"/>
          </a:xfrm>
          <a:prstGeom prst="roundRect">
            <a:avLst/>
          </a:prstGeom>
          <a:solidFill>
            <a:srgbClr val="FFF6EB"/>
          </a:solidFill>
          <a:ln>
            <a:solidFill>
              <a:srgbClr val="F0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75319" y="3154679"/>
            <a:ext cx="640080" cy="640080"/>
          </a:xfrm>
          <a:prstGeom prst="ellipse">
            <a:avLst/>
          </a:prstGeom>
          <a:solidFill>
            <a:srgbClr val="F08E37"/>
          </a:solidFill>
          <a:ln>
            <a:solidFill>
              <a:srgbClr val="F0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19" y="3154679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081528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72241"/>
                </a:solidFill>
                <a:latin typeface="Aptos"/>
              </a:rPr>
              <a:t>Agent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502152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D3444"/>
                </a:solidFill>
                <a:latin typeface="Aptos"/>
              </a:rPr>
              <a:t>Drive Father → Office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" y="2331720"/>
            <a:ext cx="3749040" cy="548640"/>
          </a:xfrm>
          <a:prstGeom prst="line">
            <a:avLst/>
          </a:prstGeom>
          <a:ln w="31750">
            <a:solidFill>
              <a:srgbClr val="F08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88920" y="5257800"/>
            <a:ext cx="6583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72241"/>
                </a:solidFill>
                <a:latin typeface="Aptos"/>
              </a:rPr>
              <a:t>Delegation = give the right task to the right agent.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6F82"/>
                </a:solidFill>
                <a:latin typeface="Aptos"/>
              </a:rPr>
              <a:t>AutoGen Family Use Case • Workshop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6F8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72241"/>
                </a:solidFill>
                <a:latin typeface="Aptos"/>
              </a:rPr>
              <a:t>Family story → AutoGen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6F82"/>
                </a:solidFill>
                <a:latin typeface="Aptos"/>
              </a:rPr>
              <a:t>Now translate the same story into Agentic AI language.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78992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E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99032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69DC"/>
                </a:solidFill>
                <a:latin typeface="Aptos"/>
              </a:rPr>
              <a:t>Father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399032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2241"/>
                </a:solidFill>
                <a:latin typeface="Aptos"/>
              </a:rPr>
              <a:t>User / Manager / Coordinator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1399032"/>
            <a:ext cx="5029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6F82"/>
                </a:solidFill>
                <a:latin typeface="Aptos"/>
              </a:rPr>
              <a:t>Defines the goal and delegates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75688"/>
            <a:ext cx="1078992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E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64CD7"/>
                </a:solidFill>
                <a:latin typeface="Aptos"/>
              </a:rPr>
              <a:t>Agent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148840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2241"/>
                </a:solidFill>
                <a:latin typeface="Aptos"/>
              </a:rPr>
              <a:t>Specialist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148840"/>
            <a:ext cx="5029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6F82"/>
                </a:solidFill>
                <a:latin typeface="Aptos"/>
              </a:rPr>
              <a:t>Handles School A task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25496"/>
            <a:ext cx="1078992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E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898648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BA562"/>
                </a:solidFill>
                <a:latin typeface="Aptos"/>
              </a:rPr>
              <a:t>Agent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898648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2241"/>
                </a:solidFill>
                <a:latin typeface="Aptos"/>
              </a:rPr>
              <a:t>Specialist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898648"/>
            <a:ext cx="5029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6F82"/>
                </a:solidFill>
                <a:latin typeface="Aptos"/>
              </a:rPr>
              <a:t>Handles School B task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75304"/>
            <a:ext cx="1078992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E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648456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08E37"/>
                </a:solidFill>
                <a:latin typeface="Aptos"/>
              </a:rPr>
              <a:t>Agent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64845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2241"/>
                </a:solidFill>
                <a:latin typeface="Aptos"/>
              </a:rPr>
              <a:t>Specialist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3648456"/>
            <a:ext cx="5029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6F82"/>
                </a:solidFill>
                <a:latin typeface="Aptos"/>
              </a:rPr>
              <a:t>Handles office transport task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25112"/>
            <a:ext cx="1078992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E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398264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DB7CA"/>
                </a:solidFill>
                <a:latin typeface="Aptos"/>
              </a:rPr>
              <a:t>Phone calls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398264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2241"/>
                </a:solidFill>
                <a:latin typeface="Aptos"/>
              </a:rPr>
              <a:t>Messages / 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4398264"/>
            <a:ext cx="5029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6F82"/>
                </a:solidFill>
                <a:latin typeface="Aptos"/>
              </a:rPr>
              <a:t>Agents share status and updates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074920"/>
            <a:ext cx="1078992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E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148072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2241"/>
                </a:solidFill>
                <a:latin typeface="Aptos"/>
              </a:rPr>
              <a:t>Car + Maps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5148072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72241"/>
                </a:solidFill>
                <a:latin typeface="Aptos"/>
              </a:rPr>
              <a:t>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5148072"/>
            <a:ext cx="5029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6F82"/>
                </a:solidFill>
                <a:latin typeface="Aptos"/>
              </a:rPr>
              <a:t>Capabilities used to complete tasks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6F82"/>
                </a:solidFill>
                <a:latin typeface="Aptos"/>
              </a:rPr>
              <a:t>AutoGen Family Use Case • Workshop 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6F8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72241"/>
                </a:solidFill>
                <a:latin typeface="Aptos"/>
              </a:rPr>
              <a:t>All three agents work at the same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6F82"/>
                </a:solidFill>
                <a:latin typeface="Aptos"/>
              </a:rPr>
              <a:t>This is the easiest way to explain asynchronous / concurrent work.</a:t>
            </a:r>
          </a:p>
        </p:txBody>
      </p:sp>
      <p:sp>
        <p:nvSpPr>
          <p:cNvPr id="4" name="Oval 3"/>
          <p:cNvSpPr/>
          <p:nvPr/>
        </p:nvSpPr>
        <p:spPr>
          <a:xfrm>
            <a:off x="5440680" y="1143000"/>
            <a:ext cx="1051560" cy="1051560"/>
          </a:xfrm>
          <a:prstGeom prst="ellipse">
            <a:avLst/>
          </a:prstGeom>
          <a:solidFill>
            <a:srgbClr val="2F69DC"/>
          </a:solidFill>
          <a:ln>
            <a:solidFill>
              <a:srgbClr val="2F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40680" y="1143000"/>
            <a:ext cx="10515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DAD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377440" y="2194560"/>
            <a:ext cx="3584448" cy="548640"/>
          </a:xfrm>
          <a:prstGeom prst="line">
            <a:avLst/>
          </a:prstGeom>
          <a:ln w="31750">
            <a:solidFill>
              <a:srgbClr val="764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27432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76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78408" y="3063240"/>
            <a:ext cx="594360" cy="594360"/>
          </a:xfrm>
          <a:prstGeom prst="ellipse">
            <a:avLst/>
          </a:prstGeom>
          <a:solidFill>
            <a:srgbClr val="764CD7"/>
          </a:solidFill>
          <a:ln>
            <a:solidFill>
              <a:srgbClr val="76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306324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944368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72241"/>
                </a:solidFill>
                <a:latin typeface="Aptos"/>
              </a:rPr>
              <a:t>Agent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401568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D3444"/>
                </a:solidFill>
                <a:latin typeface="Aptos"/>
              </a:rPr>
              <a:t>Kid 1 → School 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61888" y="2194560"/>
            <a:ext cx="73152" cy="548640"/>
          </a:xfrm>
          <a:prstGeom prst="line">
            <a:avLst/>
          </a:prstGeom>
          <a:ln w="31750">
            <a:solidFill>
              <a:srgbClr val="2BA5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34840" y="27432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36007" y="3063240"/>
            <a:ext cx="594360" cy="594360"/>
          </a:xfrm>
          <a:prstGeom prst="ellipse">
            <a:avLst/>
          </a:prstGeom>
          <a:solidFill>
            <a:srgbClr val="2BA562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7" y="306324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944368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72241"/>
                </a:solidFill>
                <a:latin typeface="Aptos"/>
              </a:rPr>
              <a:t>Agent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401568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D3444"/>
                </a:solidFill>
                <a:latin typeface="Aptos"/>
              </a:rPr>
              <a:t>Kid 2 → School 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61888" y="2194560"/>
            <a:ext cx="3730752" cy="548640"/>
          </a:xfrm>
          <a:prstGeom prst="line">
            <a:avLst/>
          </a:prstGeom>
          <a:ln w="31750">
            <a:solidFill>
              <a:srgbClr val="F08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92440" y="27432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F0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93608" y="3063240"/>
            <a:ext cx="594360" cy="594360"/>
          </a:xfrm>
          <a:prstGeom prst="ellipse">
            <a:avLst/>
          </a:prstGeom>
          <a:solidFill>
            <a:srgbClr val="F08E37"/>
          </a:solidFill>
          <a:ln>
            <a:solidFill>
              <a:srgbClr val="F0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93608" y="306324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944368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72241"/>
                </a:solidFill>
                <a:latin typeface="Aptos"/>
              </a:rPr>
              <a:t>Agent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401568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D3444"/>
                </a:solidFill>
                <a:latin typeface="Aptos"/>
              </a:rPr>
              <a:t>Dad → Office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4892040"/>
            <a:ext cx="8183879" cy="777240"/>
          </a:xfrm>
          <a:prstGeom prst="roundRect">
            <a:avLst/>
          </a:prstGeom>
          <a:solidFill>
            <a:srgbClr val="ECF9F2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40280" y="5047488"/>
            <a:ext cx="77266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72241"/>
                </a:solidFill>
                <a:latin typeface="Aptos"/>
              </a:rPr>
              <a:t>Instead of 3 tasks waiting in a line, independent tasks can progress together.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6F82"/>
                </a:solidFill>
                <a:latin typeface="Aptos"/>
              </a:rPr>
              <a:t>AutoGen Family Use Case • Workshop Example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6F8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72241"/>
                </a:solidFill>
                <a:latin typeface="Aptos"/>
              </a:rPr>
              <a:t>Agents keep the father informed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6F82"/>
                </a:solidFill>
                <a:latin typeface="Aptos"/>
              </a:rPr>
              <a:t>Agents need communication—not just instructions.</a:t>
            </a:r>
          </a:p>
        </p:txBody>
      </p:sp>
      <p:sp>
        <p:nvSpPr>
          <p:cNvPr id="4" name="Oval 3"/>
          <p:cNvSpPr/>
          <p:nvPr/>
        </p:nvSpPr>
        <p:spPr>
          <a:xfrm>
            <a:off x="5440680" y="2148840"/>
            <a:ext cx="1051560" cy="1051560"/>
          </a:xfrm>
          <a:prstGeom prst="ellipse">
            <a:avLst/>
          </a:prstGeom>
          <a:solidFill>
            <a:srgbClr val="2F69DC"/>
          </a:solidFill>
          <a:ln>
            <a:solidFill>
              <a:srgbClr val="2F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40680" y="2148840"/>
            <a:ext cx="10515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788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76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63039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64CD7"/>
                </a:solidFill>
                <a:latin typeface="Aptos"/>
              </a:rPr>
              <a:t>Agent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01368"/>
            <a:ext cx="2377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D3444"/>
                </a:solidFill>
                <a:latin typeface="Aptos"/>
              </a:rPr>
              <a:t>“Kid 1 reached School A.”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1680" y="2468880"/>
            <a:ext cx="3950208" cy="201168"/>
          </a:xfrm>
          <a:prstGeom prst="line">
            <a:avLst/>
          </a:prstGeom>
          <a:ln w="31750">
            <a:solidFill>
              <a:srgbClr val="764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3886200"/>
            <a:ext cx="2788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4023360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BA562"/>
                </a:solidFill>
                <a:latin typeface="Aptos"/>
              </a:rPr>
              <a:t>Agent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361688"/>
            <a:ext cx="2377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D3444"/>
                </a:solidFill>
                <a:latin typeface="Aptos"/>
              </a:rPr>
              <a:t>“Traffic delay. ETA 10 min.”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011680" y="2670048"/>
            <a:ext cx="3950208" cy="2359152"/>
          </a:xfrm>
          <a:prstGeom prst="line">
            <a:avLst/>
          </a:prstGeom>
          <a:ln w="31750">
            <a:solidFill>
              <a:srgbClr val="2BA5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32520" y="1325880"/>
            <a:ext cx="2788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0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15400" y="1463039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08E37"/>
                </a:solidFill>
                <a:latin typeface="Aptos"/>
              </a:rPr>
              <a:t>Agent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801368"/>
            <a:ext cx="2377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D3444"/>
                </a:solidFill>
                <a:latin typeface="Aptos"/>
              </a:rPr>
              <a:t>“We reached the office.”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961888" y="2468880"/>
            <a:ext cx="4142232" cy="201168"/>
          </a:xfrm>
          <a:prstGeom prst="line">
            <a:avLst/>
          </a:prstGeom>
          <a:ln w="31750">
            <a:solidFill>
              <a:srgbClr val="F08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32520" y="3886200"/>
            <a:ext cx="2788920" cy="1143000"/>
          </a:xfrm>
          <a:prstGeom prst="roundRect">
            <a:avLst/>
          </a:prstGeom>
          <a:solidFill>
            <a:srgbClr val="EDF4FF"/>
          </a:solidFill>
          <a:ln>
            <a:solidFill>
              <a:srgbClr val="2F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15400" y="4041648"/>
            <a:ext cx="2423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69DC"/>
                </a:solidFill>
                <a:latin typeface="Aptos"/>
              </a:rPr>
              <a:t>Message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4407408"/>
            <a:ext cx="2423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D3444"/>
                </a:solidFill>
                <a:latin typeface="Aptos"/>
              </a:rPr>
              <a:t>Status • delay • completion • help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6F82"/>
                </a:solidFill>
                <a:latin typeface="Aptos"/>
              </a:rPr>
              <a:t>AutoGen Family Use Case • Workshop 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6F8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72241"/>
                </a:solidFill>
                <a:latin typeface="Aptos"/>
              </a:rPr>
              <a:t>Agents also need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6F82"/>
                </a:solidFill>
                <a:latin typeface="Aptos"/>
              </a:rPr>
              <a:t>A responsible person without a car, route or school address cannot complete the task.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" y="1755648"/>
            <a:ext cx="658368" cy="658368"/>
          </a:xfrm>
          <a:prstGeom prst="ellipse">
            <a:avLst/>
          </a:prstGeom>
          <a:solidFill>
            <a:srgbClr val="764CD7"/>
          </a:solidFill>
          <a:ln>
            <a:solidFill>
              <a:srgbClr val="76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755648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60320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72241"/>
                </a:solidFill>
                <a:latin typeface="Aptos"/>
              </a:rPr>
              <a:t>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56F82"/>
                </a:solidFill>
                <a:latin typeface="Aptos"/>
              </a:rPr>
              <a:t>Physical capability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5087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29000" y="1755648"/>
            <a:ext cx="658368" cy="658368"/>
          </a:xfrm>
          <a:prstGeom prst="ellipse">
            <a:avLst/>
          </a:prstGeom>
          <a:solidFill>
            <a:srgbClr val="2F69DC"/>
          </a:solidFill>
          <a:ln>
            <a:solidFill>
              <a:srgbClr val="2F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755648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560320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72241"/>
                </a:solidFill>
                <a:latin typeface="Aptos"/>
              </a:rPr>
              <a:t>Google 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926080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56F82"/>
                </a:solidFill>
                <a:latin typeface="Aptos"/>
              </a:rPr>
              <a:t>Navigation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5087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715000" y="1755648"/>
            <a:ext cx="658368" cy="658368"/>
          </a:xfrm>
          <a:prstGeom prst="ellipse">
            <a:avLst/>
          </a:prstGeom>
          <a:solidFill>
            <a:srgbClr val="2BA562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0" y="1755648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560320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72241"/>
                </a:solidFill>
                <a:latin typeface="Aptos"/>
              </a:rPr>
              <a:t>School address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926080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56F82"/>
                </a:solidFill>
                <a:latin typeface="Aptos"/>
              </a:rPr>
              <a:t>Required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15087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001000" y="1755648"/>
            <a:ext cx="658368" cy="658368"/>
          </a:xfrm>
          <a:prstGeom prst="ellipse">
            <a:avLst/>
          </a:prstGeom>
          <a:solidFill>
            <a:srgbClr val="2DB7CA"/>
          </a:solidFill>
          <a:ln>
            <a:solidFill>
              <a:srgbClr val="2D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01000" y="1755648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560320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72241"/>
                </a:solidFill>
                <a:latin typeface="Aptos"/>
              </a:rPr>
              <a:t>Phone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926080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56F82"/>
                </a:solidFill>
                <a:latin typeface="Aptos"/>
              </a:rPr>
              <a:t>Communication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15087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287000" y="1755648"/>
            <a:ext cx="658368" cy="658368"/>
          </a:xfrm>
          <a:prstGeom prst="ellipse">
            <a:avLst/>
          </a:prstGeom>
          <a:solidFill>
            <a:srgbClr val="F08E37"/>
          </a:solidFill>
          <a:ln>
            <a:solidFill>
              <a:srgbClr val="F0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87000" y="1755648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560320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72241"/>
                </a:solidFill>
                <a:latin typeface="Aptos"/>
              </a:rPr>
              <a:t>ID / permission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926080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56F82"/>
                </a:solidFill>
                <a:latin typeface="Aptos"/>
              </a:rPr>
              <a:t>Authorization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17320" y="4251960"/>
            <a:ext cx="9326880" cy="960120"/>
          </a:xfrm>
          <a:prstGeom prst="roundRect">
            <a:avLst/>
          </a:prstGeom>
          <a:solidFill>
            <a:srgbClr val="FFF6EB"/>
          </a:solidFill>
          <a:ln>
            <a:solidFill>
              <a:srgbClr val="F0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91640" y="4434840"/>
            <a:ext cx="8778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72241"/>
                </a:solidFill>
                <a:latin typeface="Aptos"/>
              </a:rPr>
              <a:t>AutoGen equivalent: tools may be web search, APIs, databases, Python, files, RAG, or business systems.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6F82"/>
                </a:solidFill>
                <a:latin typeface="Aptos"/>
              </a:rPr>
              <a:t>AutoGen Family Use Case • Workshop Example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6F8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72241"/>
                </a:solidFill>
                <a:latin typeface="Aptos"/>
              </a:rPr>
              <a:t>Clear roles prevent confusion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6F82"/>
                </a:solidFill>
                <a:latin typeface="Aptos"/>
              </a:rPr>
              <a:t>The father should not say: “Everyone do everything.”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120640" cy="4343400"/>
          </a:xfrm>
          <a:prstGeom prst="roundRect">
            <a:avLst/>
          </a:prstGeom>
          <a:solidFill>
            <a:srgbClr val="ECF9F2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09360" y="1417320"/>
            <a:ext cx="5120640" cy="4343400"/>
          </a:xfrm>
          <a:prstGeom prst="roundRect">
            <a:avLst/>
          </a:prstGeom>
          <a:solidFill>
            <a:srgbClr val="FFF6EB"/>
          </a:solidFill>
          <a:ln>
            <a:solidFill>
              <a:srgbClr val="F0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BA562"/>
                </a:solidFill>
                <a:latin typeface="Aptos"/>
              </a:rPr>
              <a:t>GOOD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4389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D3444"/>
                </a:solidFill>
                <a:latin typeface="Aptos"/>
              </a:rPr>
              <a:t>✓  Agent 1 → only School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08960"/>
            <a:ext cx="4389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D3444"/>
                </a:solidFill>
                <a:latin typeface="Aptos"/>
              </a:rPr>
              <a:t>✓  Agent 2 → only School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4389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D3444"/>
                </a:solidFill>
                <a:latin typeface="Aptos"/>
              </a:rPr>
              <a:t>✓  Agent 3 → office 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80560"/>
            <a:ext cx="4389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D3444"/>
                </a:solidFill>
                <a:latin typeface="Aptos"/>
              </a:rPr>
              <a:t>✓  Each reports completion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08E37"/>
                </a:solidFill>
                <a:latin typeface="Aptos"/>
              </a:rPr>
              <a:t>BAD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423160"/>
            <a:ext cx="4389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D3444"/>
                </a:solidFill>
                <a:latin typeface="Aptos"/>
              </a:rPr>
              <a:t>✕  All agents chase the same child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108960"/>
            <a:ext cx="4389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D3444"/>
                </a:solidFill>
                <a:latin typeface="Aptos"/>
              </a:rPr>
              <a:t>✕  Nobody knows who goes to School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794760"/>
            <a:ext cx="4389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D3444"/>
                </a:solidFill>
                <a:latin typeface="Aptos"/>
              </a:rPr>
              <a:t>✕  Two agents take the same 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480560"/>
            <a:ext cx="4389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D3444"/>
                </a:solidFill>
                <a:latin typeface="Aptos"/>
              </a:rPr>
              <a:t>✕  No one reports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6F82"/>
                </a:solidFill>
                <a:latin typeface="Aptos"/>
              </a:rPr>
              <a:t>AutoGen Family Use Case • Workshop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6F8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72241"/>
                </a:solidFill>
                <a:latin typeface="Aptos"/>
              </a:rPr>
              <a:t>What if something goes wrong?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6F82"/>
                </a:solidFill>
                <a:latin typeface="Aptos"/>
              </a:rPr>
              <a:t>Agentic systems need exception handling and escalation.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240280"/>
            <a:ext cx="914400" cy="914400"/>
          </a:xfrm>
          <a:prstGeom prst="ellipse">
            <a:avLst/>
          </a:prstGeom>
          <a:solidFill>
            <a:srgbClr val="2BA562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965960"/>
            <a:ext cx="2971800" cy="1417320"/>
          </a:xfrm>
          <a:prstGeom prst="roundRect">
            <a:avLst/>
          </a:prstGeom>
          <a:solidFill>
            <a:srgbClr val="FFF6EB"/>
          </a:solidFill>
          <a:ln>
            <a:solidFill>
              <a:srgbClr val="F0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63240" y="2176272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08E37"/>
                </a:solidFill>
                <a:latin typeface="Aptos"/>
              </a:rPr>
              <a:t>Traffic jam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606040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D3444"/>
                </a:solidFill>
                <a:latin typeface="Aptos"/>
              </a:rPr>
              <a:t>Agent 2 cannot arrive on time.</a:t>
            </a:r>
          </a:p>
        </p:txBody>
      </p:sp>
      <p:sp>
        <p:nvSpPr>
          <p:cNvPr id="9" name="Oval 8"/>
          <p:cNvSpPr/>
          <p:nvPr/>
        </p:nvSpPr>
        <p:spPr>
          <a:xfrm>
            <a:off x="7406640" y="2240280"/>
            <a:ext cx="914400" cy="914400"/>
          </a:xfrm>
          <a:prstGeom prst="ellipse">
            <a:avLst/>
          </a:prstGeom>
          <a:solidFill>
            <a:srgbClr val="2F69DC"/>
          </a:solidFill>
          <a:ln>
            <a:solidFill>
              <a:srgbClr val="2F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0" y="224028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965960"/>
            <a:ext cx="2194560" cy="1417320"/>
          </a:xfrm>
          <a:prstGeom prst="roundRect">
            <a:avLst/>
          </a:prstGeom>
          <a:solidFill>
            <a:srgbClr val="EDF4FF"/>
          </a:solidFill>
          <a:ln>
            <a:solidFill>
              <a:srgbClr val="2F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64040" y="2176272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F69DC"/>
                </a:solidFill>
                <a:latin typeface="Aptos"/>
              </a:rPr>
              <a:t>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2578608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D3444"/>
                </a:solidFill>
                <a:latin typeface="Aptos"/>
              </a:rPr>
              <a:t>Wait? reroute?</a:t>
            </a:r>
            <a:br/>
            <a:r>
              <a:t>call school?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28800" y="2697480"/>
            <a:ext cx="1005840" cy="0"/>
          </a:xfrm>
          <a:prstGeom prst="line">
            <a:avLst/>
          </a:prstGeom>
          <a:ln w="31750">
            <a:solidFill>
              <a:srgbClr val="2BA5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06440" y="2697480"/>
            <a:ext cx="1600200" cy="0"/>
          </a:xfrm>
          <a:prstGeom prst="line">
            <a:avLst/>
          </a:prstGeom>
          <a:ln w="31750">
            <a:solidFill>
              <a:srgbClr val="F08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2697480"/>
            <a:ext cx="914400" cy="0"/>
          </a:xfrm>
          <a:prstGeom prst="line">
            <a:avLst/>
          </a:prstGeom>
          <a:ln w="31750">
            <a:solidFill>
              <a:srgbClr val="2F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057400" y="4617720"/>
            <a:ext cx="8092440" cy="868680"/>
          </a:xfrm>
          <a:prstGeom prst="roundRect">
            <a:avLst/>
          </a:prstGeom>
          <a:solidFill>
            <a:srgbClr val="F5F0FF"/>
          </a:solidFill>
          <a:ln>
            <a:solidFill>
              <a:srgbClr val="76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31720" y="4773168"/>
            <a:ext cx="7543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72241"/>
                </a:solidFill>
                <a:latin typeface="Aptos"/>
              </a:rPr>
              <a:t>AutoGen idea: agent reports the problem → coordinator / human decides the next 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6F82"/>
                </a:solidFill>
                <a:latin typeface="Aptos"/>
              </a:rPr>
              <a:t>AutoGen Family Use Case • Workshop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6F8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72241"/>
                </a:solidFill>
                <a:latin typeface="Aptos"/>
              </a:rPr>
              <a:t>Human-in-the-loop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6F82"/>
                </a:solidFill>
                <a:latin typeface="Aptos"/>
              </a:rPr>
              <a:t>Some decisions should remain with the father.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331720"/>
            <a:ext cx="868680" cy="868680"/>
          </a:xfrm>
          <a:prstGeom prst="ellipse">
            <a:avLst/>
          </a:prstGeom>
          <a:solidFill>
            <a:srgbClr val="764CD7"/>
          </a:solidFill>
          <a:ln>
            <a:solidFill>
              <a:srgbClr val="76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011680"/>
            <a:ext cx="2743200" cy="1508760"/>
          </a:xfrm>
          <a:prstGeom prst="roundRect">
            <a:avLst/>
          </a:prstGeom>
          <a:solidFill>
            <a:srgbClr val="FFF6EB"/>
          </a:solidFill>
          <a:ln>
            <a:solidFill>
              <a:srgbClr val="F0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60920" y="2331720"/>
            <a:ext cx="868680" cy="868680"/>
          </a:xfrm>
          <a:prstGeom prst="ellipse">
            <a:avLst/>
          </a:prstGeom>
          <a:solidFill>
            <a:srgbClr val="2F69DC"/>
          </a:solidFill>
          <a:ln>
            <a:solidFill>
              <a:srgbClr val="2F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60920" y="233172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DAD</a:t>
            </a:r>
          </a:p>
        </p:txBody>
      </p:sp>
      <p:sp>
        <p:nvSpPr>
          <p:cNvPr id="9" name="Oval 8"/>
          <p:cNvSpPr/>
          <p:nvPr/>
        </p:nvSpPr>
        <p:spPr>
          <a:xfrm>
            <a:off x="10058400" y="2331720"/>
            <a:ext cx="868680" cy="868680"/>
          </a:xfrm>
          <a:prstGeom prst="ellipse">
            <a:avLst/>
          </a:prstGeom>
          <a:solidFill>
            <a:srgbClr val="2BA562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0" y="233172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91640" y="2761488"/>
            <a:ext cx="1051560" cy="0"/>
          </a:xfrm>
          <a:prstGeom prst="line">
            <a:avLst/>
          </a:prstGeom>
          <a:ln w="31750">
            <a:solidFill>
              <a:srgbClr val="2F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2761488"/>
            <a:ext cx="1874520" cy="0"/>
          </a:xfrm>
          <a:prstGeom prst="line">
            <a:avLst/>
          </a:prstGeom>
          <a:ln w="31750">
            <a:solidFill>
              <a:srgbClr val="2F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0" y="2761488"/>
            <a:ext cx="1828800" cy="0"/>
          </a:xfrm>
          <a:prstGeom prst="line">
            <a:avLst/>
          </a:prstGeom>
          <a:ln w="31750">
            <a:solidFill>
              <a:srgbClr val="2F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71800" y="224028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72241"/>
                </a:solidFill>
                <a:latin typeface="Aptos"/>
              </a:rPr>
              <a:t>“School is closed.</a:t>
            </a:r>
            <a:br/>
            <a:r>
              <a:t>Should I take the child home?”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42900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656F82"/>
                </a:solidFill>
                <a:latin typeface="Aptos"/>
              </a:rPr>
              <a:t>Human decides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4754880"/>
            <a:ext cx="8503920" cy="777240"/>
          </a:xfrm>
          <a:prstGeom prst="roundRect">
            <a:avLst/>
          </a:prstGeom>
          <a:solidFill>
            <a:srgbClr val="ECF9F2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57400" y="4919472"/>
            <a:ext cx="8046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72241"/>
                </a:solidFill>
                <a:latin typeface="Aptos"/>
              </a:rPr>
              <a:t>High-impact, unusual or ambiguous actions → ask the human before proceeding.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6F82"/>
                </a:solidFill>
                <a:latin typeface="Aptos"/>
              </a:rPr>
              <a:t>AutoGen Family Use Case • Workshop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6F8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72241"/>
                </a:solidFill>
                <a:latin typeface="Aptos"/>
              </a:rPr>
              <a:t>How does the workflow know it is finished?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6F82"/>
                </a:solidFill>
                <a:latin typeface="Aptos"/>
              </a:rPr>
              <a:t>Every agent system needs a clear stopping condition.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154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76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" y="1965960"/>
            <a:ext cx="566928" cy="566928"/>
          </a:xfrm>
          <a:prstGeom prst="ellipse">
            <a:avLst/>
          </a:prstGeom>
          <a:solidFill>
            <a:srgbClr val="764CD7"/>
          </a:solidFill>
          <a:ln>
            <a:solidFill>
              <a:srgbClr val="76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74519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72241"/>
                </a:solidFill>
                <a:latin typeface="Aptos"/>
              </a:rPr>
              <a:t>Agent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2860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6F82"/>
                </a:solidFill>
                <a:latin typeface="Aptos"/>
              </a:rPr>
              <a:t>Kid 1 delivered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154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709160" y="1965960"/>
            <a:ext cx="566928" cy="566928"/>
          </a:xfrm>
          <a:prstGeom prst="ellipse">
            <a:avLst/>
          </a:prstGeom>
          <a:solidFill>
            <a:srgbClr val="2BA562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96596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874519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72241"/>
                </a:solidFill>
                <a:latin typeface="Aptos"/>
              </a:rPr>
              <a:t>Agent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2860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6F82"/>
                </a:solidFill>
                <a:latin typeface="Aptos"/>
              </a:rPr>
              <a:t>Kid 2 delivered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154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0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66760" y="1965960"/>
            <a:ext cx="566928" cy="566928"/>
          </a:xfrm>
          <a:prstGeom prst="ellipse">
            <a:avLst/>
          </a:prstGeom>
          <a:solidFill>
            <a:srgbClr val="F08E37"/>
          </a:solidFill>
          <a:ln>
            <a:solidFill>
              <a:srgbClr val="F0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96596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874519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72241"/>
                </a:solidFill>
                <a:latin typeface="Aptos"/>
              </a:rPr>
              <a:t>Agent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2860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6F82"/>
                </a:solidFill>
                <a:latin typeface="Aptos"/>
              </a:rPr>
              <a:t>Father at office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23160" y="3154680"/>
            <a:ext cx="3611880" cy="1005840"/>
          </a:xfrm>
          <a:prstGeom prst="line">
            <a:avLst/>
          </a:prstGeom>
          <a:ln w="31750">
            <a:solidFill>
              <a:srgbClr val="65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3154680"/>
            <a:ext cx="0" cy="1005840"/>
          </a:xfrm>
          <a:prstGeom prst="line">
            <a:avLst/>
          </a:prstGeom>
          <a:ln w="31750">
            <a:solidFill>
              <a:srgbClr val="65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126480" y="3154680"/>
            <a:ext cx="3611880" cy="1005840"/>
          </a:xfrm>
          <a:prstGeom prst="line">
            <a:avLst/>
          </a:prstGeom>
          <a:ln w="31750">
            <a:solidFill>
              <a:srgbClr val="65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977639" y="4160520"/>
            <a:ext cx="4206240" cy="1051560"/>
          </a:xfrm>
          <a:prstGeom prst="roundRect">
            <a:avLst/>
          </a:prstGeom>
          <a:solidFill>
            <a:srgbClr val="ECF9F2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51960" y="441655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BA562"/>
                </a:solidFill>
                <a:latin typeface="Aptos"/>
              </a:rPr>
              <a:t>STOP: all required tasks completed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6F82"/>
                </a:solidFill>
                <a:latin typeface="Aptos"/>
              </a:rPr>
              <a:t>AutoGen Family Use Case • Workshop 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6F8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72241"/>
                </a:solidFill>
                <a:latin typeface="Aptos"/>
              </a:rPr>
              <a:t>Complete AutoGen architecture using the family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6F82"/>
                </a:solidFill>
                <a:latin typeface="Aptos"/>
              </a:rPr>
              <a:t>This one picture connects the whole workshop concept.</a:t>
            </a:r>
          </a:p>
        </p:txBody>
      </p:sp>
      <p:sp>
        <p:nvSpPr>
          <p:cNvPr id="4" name="Oval 3"/>
          <p:cNvSpPr/>
          <p:nvPr/>
        </p:nvSpPr>
        <p:spPr>
          <a:xfrm>
            <a:off x="5440680" y="1143000"/>
            <a:ext cx="1051560" cy="1051560"/>
          </a:xfrm>
          <a:prstGeom prst="ellipse">
            <a:avLst/>
          </a:prstGeom>
          <a:solidFill>
            <a:srgbClr val="2F69DC"/>
          </a:solidFill>
          <a:ln>
            <a:solidFill>
              <a:srgbClr val="2F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40680" y="1143000"/>
            <a:ext cx="10515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221992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72241"/>
                </a:solidFill>
                <a:latin typeface="Aptos"/>
              </a:rPr>
              <a:t>Father / Coordinator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97180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76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8" y="3273552"/>
            <a:ext cx="594360" cy="594360"/>
          </a:xfrm>
          <a:prstGeom prst="ellipse">
            <a:avLst/>
          </a:prstGeom>
          <a:solidFill>
            <a:srgbClr val="764CD7"/>
          </a:solidFill>
          <a:ln>
            <a:solidFill>
              <a:srgbClr val="76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3273552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5468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72241"/>
                </a:solidFill>
                <a:latin typeface="Aptos"/>
              </a:rPr>
              <a:t>Agent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56616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56F82"/>
                </a:solidFill>
                <a:latin typeface="Aptos"/>
              </a:rPr>
              <a:t>School A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240280" y="2423160"/>
            <a:ext cx="3721608" cy="548640"/>
          </a:xfrm>
          <a:prstGeom prst="line">
            <a:avLst/>
          </a:prstGeom>
          <a:ln w="31750">
            <a:solidFill>
              <a:srgbClr val="764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40280" y="4480560"/>
            <a:ext cx="3721608" cy="731520"/>
          </a:xfrm>
          <a:prstGeom prst="line">
            <a:avLst/>
          </a:prstGeom>
          <a:ln w="31750">
            <a:solidFill>
              <a:srgbClr val="764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34840" y="297180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36007" y="3273552"/>
            <a:ext cx="594360" cy="594360"/>
          </a:xfrm>
          <a:prstGeom prst="ellipse">
            <a:avLst/>
          </a:prstGeom>
          <a:solidFill>
            <a:srgbClr val="2BA562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36007" y="3273552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315468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72241"/>
                </a:solidFill>
                <a:latin typeface="Aptos"/>
              </a:rPr>
              <a:t>Agent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356616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56F82"/>
                </a:solidFill>
                <a:latin typeface="Aptos"/>
              </a:rPr>
              <a:t>School 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61888" y="2423160"/>
            <a:ext cx="118871" cy="548640"/>
          </a:xfrm>
          <a:prstGeom prst="line">
            <a:avLst/>
          </a:prstGeom>
          <a:ln w="31750">
            <a:solidFill>
              <a:srgbClr val="2BA5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961888" y="4480560"/>
            <a:ext cx="118871" cy="731520"/>
          </a:xfrm>
          <a:prstGeom prst="line">
            <a:avLst/>
          </a:prstGeom>
          <a:ln w="31750">
            <a:solidFill>
              <a:srgbClr val="2BA5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75320" y="297180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0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76488" y="3273552"/>
            <a:ext cx="594360" cy="594360"/>
          </a:xfrm>
          <a:prstGeom prst="ellipse">
            <a:avLst/>
          </a:prstGeom>
          <a:solidFill>
            <a:srgbClr val="F08E37"/>
          </a:solidFill>
          <a:ln>
            <a:solidFill>
              <a:srgbClr val="F0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76488" y="3273552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15468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72241"/>
                </a:solidFill>
                <a:latin typeface="Aptos"/>
              </a:rPr>
              <a:t>Agent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56616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56F82"/>
                </a:solidFill>
                <a:latin typeface="Aptos"/>
              </a:rPr>
              <a:t>Office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61888" y="2423160"/>
            <a:ext cx="3959352" cy="548640"/>
          </a:xfrm>
          <a:prstGeom prst="line">
            <a:avLst/>
          </a:prstGeom>
          <a:ln w="31750">
            <a:solidFill>
              <a:srgbClr val="F08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961888" y="4480560"/>
            <a:ext cx="3959352" cy="731520"/>
          </a:xfrm>
          <a:prstGeom prst="line">
            <a:avLst/>
          </a:prstGeom>
          <a:ln w="31750">
            <a:solidFill>
              <a:srgbClr val="F08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977639" y="5212080"/>
            <a:ext cx="4160520" cy="822960"/>
          </a:xfrm>
          <a:prstGeom prst="roundRect">
            <a:avLst/>
          </a:prstGeom>
          <a:solidFill>
            <a:srgbClr val="EDF4FF"/>
          </a:solidFill>
          <a:ln>
            <a:solidFill>
              <a:srgbClr val="2F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06240" y="5394960"/>
            <a:ext cx="3703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72241"/>
                </a:solidFill>
                <a:latin typeface="Aptos"/>
              </a:rPr>
              <a:t>Messages → Status → Final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6F82"/>
                </a:solidFill>
                <a:latin typeface="Aptos"/>
              </a:rPr>
              <a:t>AutoGen Family Use Case • Workshop 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6F8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2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7772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What students should remember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508760"/>
            <a:ext cx="384048" cy="384048"/>
          </a:xfrm>
          <a:prstGeom prst="ellipse">
            <a:avLst/>
          </a:prstGeom>
          <a:solidFill>
            <a:srgbClr val="764CD7"/>
          </a:solidFill>
          <a:ln>
            <a:solidFill>
              <a:srgbClr val="76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490472"/>
            <a:ext cx="98755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A big goal can be divided into smaller tasks.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148839"/>
            <a:ext cx="384048" cy="384048"/>
          </a:xfrm>
          <a:prstGeom prst="ellipse">
            <a:avLst/>
          </a:prstGeom>
          <a:solidFill>
            <a:srgbClr val="2F69DC"/>
          </a:solidFill>
          <a:ln>
            <a:solidFill>
              <a:srgbClr val="2F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48839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30551"/>
            <a:ext cx="98755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Each agent should have a clear role.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788920"/>
            <a:ext cx="384048" cy="384048"/>
          </a:xfrm>
          <a:prstGeom prst="ellipse">
            <a:avLst/>
          </a:prstGeom>
          <a:solidFill>
            <a:srgbClr val="2BA562"/>
          </a:solidFill>
          <a:ln>
            <a:solidFill>
              <a:srgbClr val="2BA5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770632"/>
            <a:ext cx="98755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Agents need tools and information.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428999"/>
            <a:ext cx="384048" cy="384048"/>
          </a:xfrm>
          <a:prstGeom prst="ellipse">
            <a:avLst/>
          </a:prstGeom>
          <a:solidFill>
            <a:srgbClr val="2DB7CA"/>
          </a:solidFill>
          <a:ln>
            <a:solidFill>
              <a:srgbClr val="2D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428999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410711"/>
            <a:ext cx="98755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Independent agents can work concurrently.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069079"/>
            <a:ext cx="384048" cy="384048"/>
          </a:xfrm>
          <a:prstGeom prst="ellipse">
            <a:avLst/>
          </a:prstGeom>
          <a:solidFill>
            <a:srgbClr val="F08E37"/>
          </a:solidFill>
          <a:ln>
            <a:solidFill>
              <a:srgbClr val="F0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069079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050791"/>
            <a:ext cx="98755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Agents communicate through messages.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709160"/>
            <a:ext cx="384048" cy="384048"/>
          </a:xfrm>
          <a:prstGeom prst="ellipse">
            <a:avLst/>
          </a:prstGeom>
          <a:solidFill>
            <a:srgbClr val="DC4C4C"/>
          </a:solidFill>
          <a:ln>
            <a:solidFill>
              <a:srgbClr val="DC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90872"/>
            <a:ext cx="98755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Humans handle important exceptions.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349240"/>
            <a:ext cx="384048" cy="384048"/>
          </a:xfrm>
          <a:prstGeom prst="ellipse">
            <a:avLst/>
          </a:prstGeom>
          <a:solidFill>
            <a:srgbClr val="764CD7"/>
          </a:solidFill>
          <a:ln>
            <a:solidFill>
              <a:srgbClr val="764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3492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330952"/>
            <a:ext cx="98755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The workflow needs a stop condition.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589788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D2DDF4"/>
                </a:solidFill>
                <a:latin typeface="Aptos"/>
              </a:rPr>
              <a:t>AutoGen = coordination, not magic.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6F82"/>
                </a:solidFill>
                <a:latin typeface="Aptos"/>
              </a:rPr>
              <a:t>AutoGen Family Use Case • Workshop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6F8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862</Words>
  <Application>Microsoft Office PowerPoint</Application>
  <PresentationFormat>Widescreen</PresentationFormat>
  <Paragraphs>208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kodi datascientist</cp:lastModifiedBy>
  <cp:revision>3</cp:revision>
  <dcterms:created xsi:type="dcterms:W3CDTF">2013-01-27T09:14:16Z</dcterms:created>
  <dcterms:modified xsi:type="dcterms:W3CDTF">2026-08-01T10:31:41Z</dcterms:modified>
  <cp:category/>
</cp:coreProperties>
</file>